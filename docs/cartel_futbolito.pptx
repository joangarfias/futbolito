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400000" cy="43200000"/>
  <p:notesSz cx="43200000" cy="324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30205440" cy="5303520"/>
          </a:xfrm>
          <a:prstGeom prst="roundRect">
            <a:avLst>
              <a:gd name="adj" fmla="val 3448"/>
            </a:avLst>
          </a:prstGeom>
          <a:solidFill>
            <a:srgbClr val="1F4D20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188720"/>
            <a:ext cx="29473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Futbolito Cliente/Servidor con paralelismo multihilo sincronizado por seccion critica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463040" y="4389120"/>
            <a:ext cx="2947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[Integrante 1]  ·  [Integrante 2]  ·  [Integrante 3]  ·  [Integrante 4]
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[Universidad / Facultad] — Sistemas de Computo Paralelo y Distribuido — Ciclo 2025-2026B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97280" y="6766560"/>
            <a:ext cx="14630400" cy="4572000"/>
          </a:xfrm>
          <a:prstGeom prst="roundRect">
            <a:avLst>
              <a:gd name="adj" fmla="val 2400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699516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463040" y="7909560"/>
            <a:ext cx="1389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desarrollaron dos aplicaciones nativas (Linux y Windows) de un futbolito multijugador. Ambas comparten una base en lenguaje C y usan exclusivamente APIs nativas: sockets (Winsock/BSD), hilos (CreateThread/pthread) y mutex (CRITICAL_SECTION/pthread_mutex). La arquitectura es Cliente/Servidor sobre TCP: un servidor autoritativo calcula la fisica y reparte el estado a hasta 4 jugadores. El paralelismo se sincroniza con una seccion critica con mutex que protege el estado compartido entre el hilo de fisica y los hilos de clientes, evitando condiciones de carrera.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11704320"/>
            <a:ext cx="14630400" cy="3474720"/>
          </a:xfrm>
          <a:prstGeom prst="roundRect">
            <a:avLst>
              <a:gd name="adj" fmla="val 3158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193292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Introduccion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463040" y="12847320"/>
            <a:ext cx="1389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distribuidos coordinan procesos en maquinas distintas y, dentro de cada uno, multiples hilos que comparten memoria. Este proyecto materializa ambos conceptos: la comunicacion entre equipos se resuelve con sockets, y la concurrencia interna con hilos sincronizados mediante el mecanismo de seccion critica (mutex).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097280" y="15544800"/>
            <a:ext cx="14630400" cy="3291840"/>
          </a:xfrm>
          <a:prstGeom prst="roundRect">
            <a:avLst>
              <a:gd name="adj" fmla="val 3333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577340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463040" y="16687800"/>
            <a:ext cx="1389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par de aplicaciones nativas en C, bajo arquitectura Cliente/Servidor punto a punto con conectividad heterogenea via sockets, y control del paralelismo multihilo mediante seccion critica con mutex, con una interfaz grafica que anima las mecanicas del juego de forma distribuida en hasta 4 equipos.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097280" y="19202400"/>
            <a:ext cx="14630400" cy="22900320"/>
          </a:xfrm>
          <a:prstGeom prst="roundRect">
            <a:avLst>
              <a:gd name="adj" fmla="val 750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1943100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Diseno y logica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463040" y="20391120"/>
            <a:ext cx="1389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1 — Arquitectura de red (Cliente/Servidor)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0"/>
            <a:ext cx="438912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10312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 + estado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828800" y="234086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EDF3E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3408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 flipV="1">
            <a:off x="3383280" y="23408640"/>
            <a:ext cx="5029200" cy="118872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90560" y="234086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EDF3E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0560" y="23408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 flipV="1">
            <a:off x="9845040" y="23408640"/>
            <a:ext cx="-1432560" cy="118872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4752320" y="234086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EDF3E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752320" y="23408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 flipV="1">
            <a:off x="16306800" y="23408640"/>
            <a:ext cx="-7894320" cy="118872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214080" y="234086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EDF3ED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0" y="23408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 flipV="1">
            <a:off x="22768560" y="23408640"/>
            <a:ext cx="-14356080" cy="118872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headEnd type="triangl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463040" y="2450592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 TCP persistente · PlayerPacket  &lt;-&gt;  GamePacket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63040" y="25237440"/>
            <a:ext cx="1389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2 — Multihilo + seccion critica (servidor)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828800" y="2587752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2587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fisica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181600" y="2587752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1600" y="2587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cli.1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534400" y="2587752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34400" y="2587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cli.2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887200" y="2587752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0" y="2587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cli.N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828800" y="27157680"/>
            <a:ext cx="13167360" cy="822960"/>
          </a:xfrm>
          <a:prstGeom prst="roundRect">
            <a:avLst>
              <a:gd name="adj" fmla="val 8889"/>
            </a:avLst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0" y="27157680"/>
            <a:ext cx="1316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 —  mutex_lock() / mutex_unlock()  (seccion critica)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5486400" y="2834640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0" y="2834640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 compartido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(pelota, jugadores, marcador)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6642080" y="6766560"/>
            <a:ext cx="14630400" cy="6583680"/>
          </a:xfrm>
          <a:prstGeom prst="roundRect">
            <a:avLst>
              <a:gd name="adj" fmla="val 1667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007840" y="699516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Esquema 3 — Portabilidad nativa</a:t>
            </a:r>
            <a:endParaRPr lang="en-US" sz="4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007840" y="8046720"/>
          <a:ext cx="13898880" cy="5029200"/>
        </p:xfrm>
        <a:graphic>
          <a:graphicData uri="http://schemas.openxmlformats.org/drawingml/2006/table">
            <a:tbl>
              <a:tblPr/>
              <a:tblGrid>
                <a:gridCol w="4632960"/>
                <a:gridCol w="4632960"/>
                <a:gridCol w="4632960"/>
              </a:tblGrid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Sockets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Winsock2 (ws2_32)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Sockets BSD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Hilos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CreateThread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pthread_create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Mutex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CRITICAL_SECTION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pthread_mutex_t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Graficos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SDL2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SDL2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16642080" y="13716000"/>
            <a:ext cx="14630400" cy="11887200"/>
          </a:xfrm>
          <a:prstGeom prst="roundRect">
            <a:avLst>
              <a:gd name="adj" fmla="val 923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7007840" y="1394460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4000" dirty="0"/>
          </a:p>
        </p:txBody>
      </p:sp>
      <p:sp>
        <p:nvSpPr>
          <p:cNvPr id="50" name="Shape 47"/>
          <p:cNvSpPr/>
          <p:nvPr/>
        </p:nvSpPr>
        <p:spPr>
          <a:xfrm>
            <a:off x="17007840" y="1499616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DDE6DD"/>
          </a:solidFill>
          <a:ln w="19050">
            <a:solidFill>
              <a:srgbClr val="2C5F2D"/>
            </a:solidFill>
            <a:prstDash val="dash"/>
          </a:ln>
        </p:spPr>
      </p:sp>
      <p:sp>
        <p:nvSpPr>
          <p:cNvPr id="51" name="Text 48"/>
          <p:cNvSpPr/>
          <p:nvPr/>
        </p:nvSpPr>
        <p:spPr>
          <a:xfrm>
            <a:off x="17007840" y="1499616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— Windows]</a:t>
            </a:r>
            <a:endParaRPr lang="en-US" sz="2400" dirty="0"/>
          </a:p>
        </p:txBody>
      </p:sp>
      <p:sp>
        <p:nvSpPr>
          <p:cNvPr id="52" name="Shape 49"/>
          <p:cNvSpPr/>
          <p:nvPr/>
        </p:nvSpPr>
        <p:spPr>
          <a:xfrm>
            <a:off x="24140160" y="1499616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DDE6DD"/>
          </a:solidFill>
          <a:ln w="19050">
            <a:solidFill>
              <a:srgbClr val="2C5F2D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24140160" y="1499616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— Linux]</a:t>
            </a:r>
            <a:endParaRPr lang="en-US" sz="2400" dirty="0"/>
          </a:p>
        </p:txBody>
      </p:sp>
      <p:sp>
        <p:nvSpPr>
          <p:cNvPr id="54" name="Shape 51"/>
          <p:cNvSpPr/>
          <p:nvPr/>
        </p:nvSpPr>
        <p:spPr>
          <a:xfrm>
            <a:off x="17007840" y="19568160"/>
            <a:ext cx="13898880" cy="3108960"/>
          </a:xfrm>
          <a:prstGeom prst="roundRect">
            <a:avLst>
              <a:gd name="adj" fmla="val 2353"/>
            </a:avLst>
          </a:prstGeom>
          <a:solidFill>
            <a:srgbClr val="DDE6DD"/>
          </a:solidFill>
          <a:ln w="19050">
            <a:solidFill>
              <a:srgbClr val="2C5F2D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17007840" y="19568160"/>
            <a:ext cx="1389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[Consola del servidor — 4 clientes conectados]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17007840" y="22951440"/>
            <a:ext cx="1389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4 jugadores simultaneos.</a:t>
            </a:r>
            <a:pPr algn="l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 y fisica consistentes en todas las pantallas.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corrupcion de estado gracias al mutex.</a:t>
            </a:r>
            <a:endParaRPr lang="en-US" sz="2400" dirty="0"/>
          </a:p>
        </p:txBody>
      </p:sp>
      <p:sp>
        <p:nvSpPr>
          <p:cNvPr id="57" name="Shape 54"/>
          <p:cNvSpPr/>
          <p:nvPr/>
        </p:nvSpPr>
        <p:spPr>
          <a:xfrm>
            <a:off x="16642080" y="25968960"/>
            <a:ext cx="14630400" cy="3840480"/>
          </a:xfrm>
          <a:prstGeom prst="roundRect">
            <a:avLst>
              <a:gd name="adj" fmla="val 2857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7007840" y="2619756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59" name="Text 56"/>
          <p:cNvSpPr/>
          <p:nvPr/>
        </p:nvSpPr>
        <p:spPr>
          <a:xfrm>
            <a:off x="17007840" y="27111960"/>
            <a:ext cx="1389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sockets para la comunicacion distribuida con hilos sincronizados por seccion critica permite un videojuego multijugador estable y portable entre Linux y Windows usando solo C y APIs nativas. El mutex resulto indispensable: sin el, el acceso concurrente al estado producia inconsistencias visibles.</a:t>
            </a:r>
            <a:endParaRPr lang="en-US" sz="2800" dirty="0"/>
          </a:p>
        </p:txBody>
      </p:sp>
      <p:sp>
        <p:nvSpPr>
          <p:cNvPr id="60" name="Shape 57"/>
          <p:cNvSpPr/>
          <p:nvPr/>
        </p:nvSpPr>
        <p:spPr>
          <a:xfrm>
            <a:off x="16642080" y="30175200"/>
            <a:ext cx="14630400" cy="4572000"/>
          </a:xfrm>
          <a:prstGeom prst="roundRect">
            <a:avLst>
              <a:gd name="adj" fmla="val 2400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7007840" y="3040380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</a:t>
            </a:r>
            <a:endParaRPr lang="en-US" sz="4000" dirty="0"/>
          </a:p>
        </p:txBody>
      </p:sp>
      <p:sp>
        <p:nvSpPr>
          <p:cNvPr id="62" name="Text 59"/>
          <p:cNvSpPr/>
          <p:nvPr/>
        </p:nvSpPr>
        <p:spPr>
          <a:xfrm>
            <a:off x="17007840" y="31318200"/>
            <a:ext cx="1389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Stevens, Fenner, Rudoff. UNIX Network Programming, Vol. 1. Addison-Wesley.</a:t>
            </a:r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Microsoft. Winsock (Windows Sockets 2) Reference. Microsoft Learn.</a:t>
            </a:r>
            <a:endParaRPr lang="en-US" sz="2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Microsoft. Critical Section Objects. Microsoft Learn.</a:t>
            </a:r>
            <a:endParaRPr lang="en-US" sz="2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Open Group. POSIX Threads (pthreads) Specification.</a:t>
            </a:r>
            <a:endParaRPr lang="en-US" sz="2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SDL2. Simple DirectMedia Layer — API Reference. libsdl.org.</a:t>
            </a:r>
            <a:endParaRPr lang="en-US" sz="2000" dirty="0"/>
          </a:p>
        </p:txBody>
      </p:sp>
      <p:sp>
        <p:nvSpPr>
          <p:cNvPr id="63" name="Shape 60"/>
          <p:cNvSpPr/>
          <p:nvPr/>
        </p:nvSpPr>
        <p:spPr>
          <a:xfrm>
            <a:off x="16642080" y="35112960"/>
            <a:ext cx="14630400" cy="6989760"/>
          </a:xfrm>
          <a:prstGeom prst="roundRect">
            <a:avLst>
              <a:gd name="adj" fmla="val 1570"/>
            </a:avLst>
          </a:prstGeom>
          <a:solidFill>
            <a:srgbClr val="EDF3ED"/>
          </a:solidFill>
          <a:ln w="12700">
            <a:solidFill>
              <a:srgbClr val="C9D8C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7007840" y="35341560"/>
            <a:ext cx="1389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del proyecto</a:t>
            </a:r>
            <a:endParaRPr lang="en-US" sz="4000" dirty="0"/>
          </a:p>
        </p:txBody>
      </p:sp>
      <p:sp>
        <p:nvSpPr>
          <p:cNvPr id="65" name="Shape 62"/>
          <p:cNvSpPr/>
          <p:nvPr/>
        </p:nvSpPr>
        <p:spPr>
          <a:xfrm>
            <a:off x="21468240" y="36393120"/>
            <a:ext cx="4978080" cy="4978080"/>
          </a:xfrm>
          <a:prstGeom prst="roundRect">
            <a:avLst>
              <a:gd name="adj" fmla="val 1469"/>
            </a:avLst>
          </a:prstGeom>
          <a:solidFill>
            <a:srgbClr val="DDE6DD"/>
          </a:solidFill>
          <a:ln w="19050">
            <a:solidFill>
              <a:srgbClr val="2C5F2D"/>
            </a:solidFill>
            <a:prstDash val="dash"/>
          </a:ln>
        </p:spPr>
      </p:sp>
      <p:sp>
        <p:nvSpPr>
          <p:cNvPr id="66" name="Text 63"/>
          <p:cNvSpPr/>
          <p:nvPr/>
        </p:nvSpPr>
        <p:spPr>
          <a:xfrm>
            <a:off x="21468240" y="36393120"/>
            <a:ext cx="4978080" cy="4978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al video]</a:t>
            </a:r>
            <a:endParaRPr lang="en-US" sz="2400" dirty="0"/>
          </a:p>
        </p:txBody>
      </p:sp>
      <p:sp>
        <p:nvSpPr>
          <p:cNvPr id="67" name="Text 64"/>
          <p:cNvSpPr/>
          <p:nvPr/>
        </p:nvSpPr>
        <p:spPr>
          <a:xfrm>
            <a:off x="17007840" y="41462640"/>
            <a:ext cx="1389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F4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para ver el video explicativo (YouTube)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2026-06-20T05:38:42Z</dcterms:created>
  <dcterms:modified xsi:type="dcterms:W3CDTF">2026-06-20T05:38:42Z</dcterms:modified>
</cp:coreProperties>
</file>